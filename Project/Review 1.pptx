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EEA84C-8425-48A7-B70B-E0B00DCF66B6}" type="datetimeFigureOut">
              <a:rPr lang="en-US" smtClean="0"/>
              <a:t>31/08/2026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2804B-4255-49EA-B865-AB5C3A346AEF}" type="slidenum">
              <a:rPr lang="en-US" smtClean="0"/>
              <a:t>‹#›</a:t>
            </a:fld>
            <a:endParaRPr lang="en-US"/>
          </a:p>
        </p:txBody>
      </p:sp>
    </p:spTree>
    <p:extLst>
      <p:ext uri="{BB962C8B-B14F-4D97-AF65-F5344CB8AC3E}">
        <p14:creationId xmlns:p14="http://schemas.microsoft.com/office/powerpoint/2010/main" val="305243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3EEEA84C-8425-48A7-B70B-E0B00DCF66B6}" type="datetimeFigureOut">
              <a:rPr lang="en-US" smtClean="0"/>
              <a:t>31/08/2026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2804B-4255-49EA-B865-AB5C3A346AEF}" type="slidenum">
              <a:rPr lang="en-US" smtClean="0"/>
              <a:t>‹#›</a:t>
            </a:fld>
            <a:endParaRPr lang="en-US"/>
          </a:p>
        </p:txBody>
      </p:sp>
    </p:spTree>
    <p:extLst>
      <p:ext uri="{BB962C8B-B14F-4D97-AF65-F5344CB8AC3E}">
        <p14:creationId xmlns:p14="http://schemas.microsoft.com/office/powerpoint/2010/main" val="4256364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EEA84C-8425-48A7-B70B-E0B00DCF66B6}" type="datetimeFigureOut">
              <a:rPr lang="en-US" smtClean="0"/>
              <a:t>31/08/2026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2804B-4255-49EA-B865-AB5C3A346AEF}" type="slidenum">
              <a:rPr lang="en-US" smtClean="0"/>
              <a:t>‹#›</a:t>
            </a:fld>
            <a:endParaRPr lang="en-US"/>
          </a:p>
        </p:txBody>
      </p:sp>
    </p:spTree>
    <p:extLst>
      <p:ext uri="{BB962C8B-B14F-4D97-AF65-F5344CB8AC3E}">
        <p14:creationId xmlns:p14="http://schemas.microsoft.com/office/powerpoint/2010/main" val="861741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EEA84C-8425-48A7-B70B-E0B00DCF66B6}" type="datetimeFigureOut">
              <a:rPr lang="en-US" smtClean="0"/>
              <a:t>31/08/2026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E2804B-4255-49EA-B865-AB5C3A346AEF}" type="slidenum">
              <a:rPr lang="en-US" smtClean="0"/>
              <a:t>‹#›</a:t>
            </a:fld>
            <a:endParaRPr lang="en-US"/>
          </a:p>
        </p:txBody>
      </p:sp>
    </p:spTree>
    <p:extLst>
      <p:ext uri="{BB962C8B-B14F-4D97-AF65-F5344CB8AC3E}">
        <p14:creationId xmlns:p14="http://schemas.microsoft.com/office/powerpoint/2010/main" val="2037473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EEA84C-8425-48A7-B70B-E0B00DCF66B6}" type="datetimeFigureOut">
              <a:rPr lang="en-US" smtClean="0"/>
              <a:t>31/08/2026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E2804B-4255-49EA-B865-AB5C3A346AEF}" type="slidenum">
              <a:rPr lang="en-US" smtClean="0"/>
              <a:t>‹#›</a:t>
            </a:fld>
            <a:endParaRPr lang="en-US"/>
          </a:p>
        </p:txBody>
      </p:sp>
    </p:spTree>
    <p:extLst>
      <p:ext uri="{BB962C8B-B14F-4D97-AF65-F5344CB8AC3E}">
        <p14:creationId xmlns:p14="http://schemas.microsoft.com/office/powerpoint/2010/main" val="782641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3EEEA84C-8425-48A7-B70B-E0B00DCF66B6}" type="datetimeFigureOut">
              <a:rPr lang="en-US" smtClean="0"/>
              <a:t>31/08/2026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52E2804B-4255-49EA-B865-AB5C3A346AEF}" type="slidenum">
              <a:rPr lang="en-US" smtClean="0"/>
              <a:t>‹#›</a:t>
            </a:fld>
            <a:endParaRPr lang="en-US"/>
          </a:p>
        </p:txBody>
      </p:sp>
    </p:spTree>
    <p:extLst>
      <p:ext uri="{BB962C8B-B14F-4D97-AF65-F5344CB8AC3E}">
        <p14:creationId xmlns:p14="http://schemas.microsoft.com/office/powerpoint/2010/main" val="4177950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EEEA84C-8425-48A7-B70B-E0B00DCF66B6}" type="datetimeFigureOut">
              <a:rPr lang="en-US" smtClean="0"/>
              <a:t>31/08/2026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52E2804B-4255-49EA-B865-AB5C3A346AEF}" type="slidenum">
              <a:rPr lang="en-US" smtClean="0"/>
              <a:t>‹#›</a:t>
            </a:fld>
            <a:endParaRPr lang="en-US"/>
          </a:p>
        </p:txBody>
      </p:sp>
    </p:spTree>
    <p:extLst>
      <p:ext uri="{BB962C8B-B14F-4D97-AF65-F5344CB8AC3E}">
        <p14:creationId xmlns:p14="http://schemas.microsoft.com/office/powerpoint/2010/main" val="215676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3EEEA84C-8425-48A7-B70B-E0B00DCF66B6}" type="datetimeFigureOut">
              <a:rPr lang="en-US" smtClean="0"/>
              <a:t>31/08/2026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52E2804B-4255-49EA-B865-AB5C3A346AEF}" type="slidenum">
              <a:rPr lang="en-US" smtClean="0"/>
              <a:t>‹#›</a:t>
            </a:fld>
            <a:endParaRPr lang="en-US"/>
          </a:p>
        </p:txBody>
      </p:sp>
    </p:spTree>
    <p:extLst>
      <p:ext uri="{BB962C8B-B14F-4D97-AF65-F5344CB8AC3E}">
        <p14:creationId xmlns:p14="http://schemas.microsoft.com/office/powerpoint/2010/main" val="1047532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EEA84C-8425-48A7-B70B-E0B00DCF66B6}" type="datetimeFigureOut">
              <a:rPr lang="en-US" smtClean="0"/>
              <a:t>31/08/2026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E2804B-4255-49EA-B865-AB5C3A346AEF}" type="slidenum">
              <a:rPr lang="en-US" smtClean="0"/>
              <a:t>‹#›</a:t>
            </a:fld>
            <a:endParaRPr lang="en-US"/>
          </a:p>
        </p:txBody>
      </p:sp>
    </p:spTree>
    <p:extLst>
      <p:ext uri="{BB962C8B-B14F-4D97-AF65-F5344CB8AC3E}">
        <p14:creationId xmlns:p14="http://schemas.microsoft.com/office/powerpoint/2010/main" val="3484325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EEA84C-8425-48A7-B70B-E0B00DCF66B6}" type="datetimeFigureOut">
              <a:rPr lang="en-US" smtClean="0"/>
              <a:t>31/08/2026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E2804B-4255-49EA-B865-AB5C3A346AEF}" type="slidenum">
              <a:rPr lang="en-US" smtClean="0"/>
              <a:t>‹#›</a:t>
            </a:fld>
            <a:endParaRPr lang="en-US"/>
          </a:p>
        </p:txBody>
      </p:sp>
    </p:spTree>
    <p:extLst>
      <p:ext uri="{BB962C8B-B14F-4D97-AF65-F5344CB8AC3E}">
        <p14:creationId xmlns:p14="http://schemas.microsoft.com/office/powerpoint/2010/main" val="4291004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EEEA84C-8425-48A7-B70B-E0B00DCF66B6}" type="datetimeFigureOut">
              <a:rPr lang="en-US" smtClean="0"/>
              <a:t>31/08/2026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2804B-4255-49EA-B865-AB5C3A346AEF}" type="slidenum">
              <a:rPr lang="en-US" smtClean="0"/>
              <a:t>‹#›</a:t>
            </a:fld>
            <a:endParaRPr lang="en-US"/>
          </a:p>
        </p:txBody>
      </p:sp>
    </p:spTree>
    <p:extLst>
      <p:ext uri="{BB962C8B-B14F-4D97-AF65-F5344CB8AC3E}">
        <p14:creationId xmlns:p14="http://schemas.microsoft.com/office/powerpoint/2010/main" val="3950051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EEEA84C-8425-48A7-B70B-E0B00DCF66B6}" type="datetimeFigureOut">
              <a:rPr lang="en-US" smtClean="0"/>
              <a:t>31/08/2026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2804B-4255-49EA-B865-AB5C3A346AE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77052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EEA84C-8425-48A7-B70B-E0B00DCF66B6}" type="datetimeFigureOut">
              <a:rPr lang="en-US" smtClean="0"/>
              <a:t>31/08/2026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2804B-4255-49EA-B865-AB5C3A346AEF}" type="slidenum">
              <a:rPr lang="en-US" smtClean="0"/>
              <a:t>‹#›</a:t>
            </a:fld>
            <a:endParaRPr lang="en-US"/>
          </a:p>
        </p:txBody>
      </p:sp>
    </p:spTree>
    <p:extLst>
      <p:ext uri="{BB962C8B-B14F-4D97-AF65-F5344CB8AC3E}">
        <p14:creationId xmlns:p14="http://schemas.microsoft.com/office/powerpoint/2010/main" val="38970060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EEEA84C-8425-48A7-B70B-E0B00DCF66B6}" type="datetimeFigureOut">
              <a:rPr lang="en-US" smtClean="0"/>
              <a:t>31/08/2026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2804B-4255-49EA-B865-AB5C3A346AEF}" type="slidenum">
              <a:rPr lang="en-US" smtClean="0"/>
              <a:t>‹#›</a:t>
            </a:fld>
            <a:endParaRPr lang="en-US"/>
          </a:p>
        </p:txBody>
      </p:sp>
    </p:spTree>
    <p:extLst>
      <p:ext uri="{BB962C8B-B14F-4D97-AF65-F5344CB8AC3E}">
        <p14:creationId xmlns:p14="http://schemas.microsoft.com/office/powerpoint/2010/main" val="21947200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EEEA84C-8425-48A7-B70B-E0B00DCF66B6}" type="datetimeFigureOut">
              <a:rPr lang="en-US" smtClean="0"/>
              <a:t>31/08/2026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2804B-4255-49EA-B865-AB5C3A346AEF}" type="slidenum">
              <a:rPr lang="en-US" smtClean="0"/>
              <a:t>‹#›</a:t>
            </a:fld>
            <a:endParaRPr lang="en-US"/>
          </a:p>
        </p:txBody>
      </p:sp>
    </p:spTree>
    <p:extLst>
      <p:ext uri="{BB962C8B-B14F-4D97-AF65-F5344CB8AC3E}">
        <p14:creationId xmlns:p14="http://schemas.microsoft.com/office/powerpoint/2010/main" val="4193315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EEA84C-8425-48A7-B70B-E0B00DCF66B6}" type="datetimeFigureOut">
              <a:rPr lang="en-US" smtClean="0"/>
              <a:t>31/08/2026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2804B-4255-49EA-B865-AB5C3A346AEF}" type="slidenum">
              <a:rPr lang="en-US" smtClean="0"/>
              <a:t>‹#›</a:t>
            </a:fld>
            <a:endParaRPr lang="en-US"/>
          </a:p>
        </p:txBody>
      </p:sp>
    </p:spTree>
    <p:extLst>
      <p:ext uri="{BB962C8B-B14F-4D97-AF65-F5344CB8AC3E}">
        <p14:creationId xmlns:p14="http://schemas.microsoft.com/office/powerpoint/2010/main" val="18193527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EEA84C-8425-48A7-B70B-E0B00DCF66B6}" type="datetimeFigureOut">
              <a:rPr lang="en-US" smtClean="0"/>
              <a:t>31/08/2026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2804B-4255-49EA-B865-AB5C3A346AEF}" type="slidenum">
              <a:rPr lang="en-US" smtClean="0"/>
              <a:t>‹#›</a:t>
            </a:fld>
            <a:endParaRPr lang="en-US"/>
          </a:p>
        </p:txBody>
      </p:sp>
    </p:spTree>
    <p:extLst>
      <p:ext uri="{BB962C8B-B14F-4D97-AF65-F5344CB8AC3E}">
        <p14:creationId xmlns:p14="http://schemas.microsoft.com/office/powerpoint/2010/main" val="3564164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3EEEA84C-8425-48A7-B70B-E0B00DCF66B6}" type="datetimeFigureOut">
              <a:rPr lang="en-US" smtClean="0"/>
              <a:t>31/08/2026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2E2804B-4255-49EA-B865-AB5C3A346AEF}" type="slidenum">
              <a:rPr lang="en-US" smtClean="0"/>
              <a:t>‹#›</a:t>
            </a:fld>
            <a:endParaRPr lang="en-US"/>
          </a:p>
        </p:txBody>
      </p:sp>
    </p:spTree>
    <p:extLst>
      <p:ext uri="{BB962C8B-B14F-4D97-AF65-F5344CB8AC3E}">
        <p14:creationId xmlns:p14="http://schemas.microsoft.com/office/powerpoint/2010/main" val="359332826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FA779-432C-7861-C8DA-BE8341A83D69}"/>
              </a:ext>
            </a:extLst>
          </p:cNvPr>
          <p:cNvSpPr>
            <a:spLocks noGrp="1"/>
          </p:cNvSpPr>
          <p:nvPr>
            <p:ph type="ctrTitle"/>
          </p:nvPr>
        </p:nvSpPr>
        <p:spPr>
          <a:xfrm>
            <a:off x="518474" y="914400"/>
            <a:ext cx="10149526" cy="2595563"/>
          </a:xfrm>
        </p:spPr>
        <p:txBody>
          <a:bodyPr>
            <a:normAutofit/>
          </a:bodyPr>
          <a:lstStyle/>
          <a:p>
            <a:r>
              <a:rPr lang="en-US" sz="3600" b="1" dirty="0">
                <a:latin typeface="Times New Roman" panose="02020603050405020304" pitchFamily="18" charset="0"/>
                <a:cs typeface="Times New Roman" panose="02020603050405020304" pitchFamily="18" charset="0"/>
              </a:rPr>
              <a:t>Customer Churn Prediction Using Elastic Net Regularized Logistic Regression</a:t>
            </a:r>
            <a:br>
              <a:rPr lang="en-US" dirty="0"/>
            </a:br>
            <a:r>
              <a:rPr lang="en-US" b="1" dirty="0"/>
              <a:t> </a:t>
            </a:r>
            <a:br>
              <a:rPr lang="en-US" dirty="0"/>
            </a:br>
            <a:endParaRPr lang="en-US" sz="1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07952E7-DCC9-A167-7304-E033A654F309}"/>
              </a:ext>
            </a:extLst>
          </p:cNvPr>
          <p:cNvSpPr>
            <a:spLocks noGrp="1"/>
          </p:cNvSpPr>
          <p:nvPr>
            <p:ph type="subTitle" idx="1"/>
          </p:nvPr>
        </p:nvSpPr>
        <p:spPr/>
        <p:txBody>
          <a:bodyPr>
            <a:normAutofit fontScale="85000" lnSpcReduction="10000"/>
          </a:bodyPr>
          <a:lstStyle/>
          <a:p>
            <a:pPr algn="l"/>
            <a:r>
              <a:rPr lang="en-US" b="1" dirty="0"/>
              <a:t>2520030003-Kunamaneni Bhavana                                                   Section9</a:t>
            </a:r>
            <a:endParaRPr lang="en-US" dirty="0"/>
          </a:p>
          <a:p>
            <a:pPr algn="l"/>
            <a:r>
              <a:rPr lang="en-US" b="1" dirty="0"/>
              <a:t>2520030189-Alluru Amulya</a:t>
            </a:r>
            <a:endParaRPr lang="en-US" dirty="0"/>
          </a:p>
          <a:p>
            <a:endParaRPr lang="en-US" dirty="0"/>
          </a:p>
        </p:txBody>
      </p:sp>
    </p:spTree>
    <p:extLst>
      <p:ext uri="{BB962C8B-B14F-4D97-AF65-F5344CB8AC3E}">
        <p14:creationId xmlns:p14="http://schemas.microsoft.com/office/powerpoint/2010/main" val="710886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589532C-0225-2A27-F709-DECC8B484789}"/>
              </a:ext>
            </a:extLst>
          </p:cNvPr>
          <p:cNvSpPr>
            <a:spLocks noGrp="1"/>
          </p:cNvSpPr>
          <p:nvPr>
            <p:ph type="title"/>
          </p:nvPr>
        </p:nvSpPr>
        <p:spPr/>
        <p:txBody>
          <a:bodyPr/>
          <a:lstStyle/>
          <a:p>
            <a:r>
              <a:rPr lang="en-US" dirty="0"/>
              <a:t>Problem statement</a:t>
            </a:r>
          </a:p>
        </p:txBody>
      </p:sp>
      <p:sp>
        <p:nvSpPr>
          <p:cNvPr id="6" name="TextBox 5">
            <a:extLst>
              <a:ext uri="{FF2B5EF4-FFF2-40B4-BE49-F238E27FC236}">
                <a16:creationId xmlns:a16="http://schemas.microsoft.com/office/drawing/2014/main" id="{405005FD-96E0-07A4-D6A5-CB814065F778}"/>
              </a:ext>
            </a:extLst>
          </p:cNvPr>
          <p:cNvSpPr txBox="1"/>
          <p:nvPr/>
        </p:nvSpPr>
        <p:spPr>
          <a:xfrm>
            <a:off x="838199" y="1426625"/>
            <a:ext cx="11011293" cy="4197559"/>
          </a:xfrm>
          <a:prstGeom prst="rect">
            <a:avLst/>
          </a:prstGeom>
          <a:noFill/>
        </p:spPr>
        <p:txBody>
          <a:bodyPr wrap="square">
            <a:spAutoFit/>
          </a:bodyPr>
          <a:lstStyle/>
          <a:p>
            <a:pPr>
              <a:lnSpc>
                <a:spcPct val="150000"/>
              </a:lnSpc>
              <a:buNone/>
            </a:pPr>
            <a:r>
              <a:rPr lang="en-US" dirty="0">
                <a:latin typeface="Times New Roman" panose="02020603050405020304" pitchFamily="18" charset="0"/>
                <a:cs typeface="Times New Roman" panose="02020603050405020304" pitchFamily="18" charset="0"/>
              </a:rPr>
              <a:t>Customer churn is a significant problem for organizations because losing existing customers can lead to reduced revenue and increased costs for acquiring new customers. Many businesses find it difficult to identify customers who are likely to discontinue their services before they actually leave. Traditional methods of customer analysis may not effectively identify the complex factors that influence customer churn.</a:t>
            </a:r>
          </a:p>
          <a:p>
            <a:pPr>
              <a:lnSpc>
                <a:spcPct val="150000"/>
              </a:lnSpc>
              <a:buNone/>
            </a:pPr>
            <a:r>
              <a:rPr lang="en-US" dirty="0">
                <a:latin typeface="Times New Roman" panose="02020603050405020304" pitchFamily="18" charset="0"/>
                <a:cs typeface="Times New Roman" panose="02020603050405020304" pitchFamily="18" charset="0"/>
              </a:rPr>
              <a:t>The problem addressed in this project is to develop a </a:t>
            </a:r>
            <a:r>
              <a:rPr lang="en-US" b="1" dirty="0">
                <a:latin typeface="Times New Roman" panose="02020603050405020304" pitchFamily="18" charset="0"/>
                <a:cs typeface="Times New Roman" panose="02020603050405020304" pitchFamily="18" charset="0"/>
              </a:rPr>
              <a:t>machine learning-based system</a:t>
            </a:r>
            <a:r>
              <a:rPr lang="en-US" dirty="0">
                <a:latin typeface="Times New Roman" panose="02020603050405020304" pitchFamily="18" charset="0"/>
                <a:cs typeface="Times New Roman" panose="02020603050405020304" pitchFamily="18" charset="0"/>
              </a:rPr>
              <a:t> that can analyze customer data and predict whether a customer is likely to </a:t>
            </a:r>
            <a:r>
              <a:rPr lang="en-US" b="1" dirty="0">
                <a:latin typeface="Times New Roman" panose="02020603050405020304" pitchFamily="18" charset="0"/>
                <a:cs typeface="Times New Roman" panose="02020603050405020304" pitchFamily="18" charset="0"/>
              </a:rPr>
              <a:t>churn or continue using the service</a:t>
            </a:r>
            <a:r>
              <a:rPr lang="en-US" dirty="0">
                <a:latin typeface="Times New Roman" panose="02020603050405020304" pitchFamily="18" charset="0"/>
                <a:cs typeface="Times New Roman" panose="02020603050405020304" pitchFamily="18" charset="0"/>
              </a:rPr>
              <a:t>. The system uses customer-related factors such as </a:t>
            </a:r>
            <a:r>
              <a:rPr lang="en-US" b="1" dirty="0">
                <a:latin typeface="Times New Roman" panose="02020603050405020304" pitchFamily="18" charset="0"/>
                <a:cs typeface="Times New Roman" panose="02020603050405020304" pitchFamily="18" charset="0"/>
              </a:rPr>
              <a:t>tenure, contract type, monthly charges, payment method, internet service, and technical support</a:t>
            </a:r>
            <a:r>
              <a:rPr lang="en-US" dirty="0">
                <a:latin typeface="Times New Roman" panose="02020603050405020304" pitchFamily="18" charset="0"/>
                <a:cs typeface="Times New Roman" panose="02020603050405020304" pitchFamily="18" charset="0"/>
              </a:rPr>
              <a:t>. By applying </a:t>
            </a:r>
            <a:r>
              <a:rPr lang="en-US" b="1" dirty="0">
                <a:latin typeface="Times New Roman" panose="02020603050405020304" pitchFamily="18" charset="0"/>
                <a:cs typeface="Times New Roman" panose="02020603050405020304" pitchFamily="18" charset="0"/>
              </a:rPr>
              <a:t>Elastic Net Regularized Logistic Regression</a:t>
            </a:r>
            <a:r>
              <a:rPr lang="en-US" dirty="0">
                <a:latin typeface="Times New Roman" panose="02020603050405020304" pitchFamily="18" charset="0"/>
                <a:cs typeface="Times New Roman" panose="02020603050405020304" pitchFamily="18" charset="0"/>
              </a:rPr>
              <a:t>, the project aims to provide accurate churn predictions, identify important factors affecting churn, and help organizations take appropriate actions to improve customer retention and reduce customer loss.</a:t>
            </a:r>
          </a:p>
        </p:txBody>
      </p:sp>
    </p:spTree>
    <p:extLst>
      <p:ext uri="{BB962C8B-B14F-4D97-AF65-F5344CB8AC3E}">
        <p14:creationId xmlns:p14="http://schemas.microsoft.com/office/powerpoint/2010/main" val="4222095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3D623-47C6-4388-32E3-D89E28455854}"/>
              </a:ext>
            </a:extLst>
          </p:cNvPr>
          <p:cNvSpPr>
            <a:spLocks noGrp="1"/>
          </p:cNvSpPr>
          <p:nvPr>
            <p:ph type="title"/>
          </p:nvPr>
        </p:nvSpPr>
        <p:spPr>
          <a:xfrm>
            <a:off x="4250703" y="2570997"/>
            <a:ext cx="10515600" cy="1325563"/>
          </a:xfrm>
        </p:spPr>
        <p:txBody>
          <a:bodyPr/>
          <a:lstStyle/>
          <a:p>
            <a:r>
              <a:rPr lang="en-US" dirty="0"/>
              <a:t>THANK YOU</a:t>
            </a:r>
            <a:br>
              <a:rPr lang="en-US" dirty="0"/>
            </a:br>
            <a:endParaRPr lang="en-US" dirty="0"/>
          </a:p>
        </p:txBody>
      </p:sp>
    </p:spTree>
    <p:extLst>
      <p:ext uri="{BB962C8B-B14F-4D97-AF65-F5344CB8AC3E}">
        <p14:creationId xmlns:p14="http://schemas.microsoft.com/office/powerpoint/2010/main" val="30635296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9</TotalTime>
  <Words>180</Words>
  <Application>Microsoft Office PowerPoint</Application>
  <PresentationFormat>Widescreen</PresentationFormat>
  <Paragraphs>7</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Century Gothic</vt:lpstr>
      <vt:lpstr>Times New Roman</vt:lpstr>
      <vt:lpstr>Wingdings 3</vt:lpstr>
      <vt:lpstr>Ion</vt:lpstr>
      <vt:lpstr>Customer Churn Prediction Using Elastic Net Regularized Logistic Regression   </vt:lpstr>
      <vt:lpstr>Problem statement</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Bhavana Kunamaneni</dc:creator>
  <cp:lastModifiedBy>Bhavana Kunamaneni</cp:lastModifiedBy>
  <cp:revision>1</cp:revision>
  <dcterms:created xsi:type="dcterms:W3CDTF">2026-08-31T03:12:35Z</dcterms:created>
  <dcterms:modified xsi:type="dcterms:W3CDTF">2026-08-31T03:22:18Z</dcterms:modified>
</cp:coreProperties>
</file>